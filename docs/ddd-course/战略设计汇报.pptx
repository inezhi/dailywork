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5089a2f5-15df-c1eb-6d32-56ab39d8e7ec}">
          <p14:sldIdLst>
            <p14:sldId id="256"/>
            <p14:sldId id="257"/>
          </p14:sldIdLst>
        </p14:section>
        <p14:section name="问题" id="{f473ddc8-bfc2-d3bc-05f2-4b10a71de259}">
          <p14:sldIdLst>
            <p14:sldId id="258"/>
            <p14:sldId id="259"/>
          </p14:sldIdLst>
        </p14:section>
        <p14:section name="四个概念" id="{479b6ba8-b0d8-6e47-154c-e8a29232c9b2}">
          <p14:sldIdLst>
            <p14:sldId id="260"/>
            <p14:sldId id="261"/>
            <p14:sldId id="262"/>
            <p14:sldId id="263"/>
          </p14:sldIdLst>
        </p14:section>
        <p14:section name="落地" id="{2142f395-03c1-37ee-3646-140221b3ba0b}">
          <p14:sldIdLst>
            <p14:sldId id="264"/>
            <p14:sldId id="265"/>
          </p14:sldIdLst>
        </p14:section>
        <p14:section name="收尾" id="{afb822a5-0d2b-3688-cad0-8507c06370d7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开场：这份分享讲的是 DDD 里不写代码的那一层——在动手之前，先把业务边界和词汇定下来。今天不讲框架，讲判断。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先给结论：战略设计只回答三个问题。它不产出代码，产出的是边界和词汇——后面所有代码都建立在这个判断上。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这个案例来自美国德州的一个司法系统。同一个 offense，执法部门关心立不立案、谁跟进；检察院关心能不能起诉、证据够不够。名字一样，但两边的字段和规则完全不同。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Slack 这个例子对产品同学更直观：界面上用户只看到四类会话，但 API 是四套。这不是名字难听，而是模型按表分，导致每个调用方都得在脑子里翻译一次。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子域是问题空间：业务本来就有这几块。我们项目里任务是核心，文档是支撑，账号是通用。这个判断决定后面谁值得单独一个服务。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限界上下文就是“这个词在这里什么意思”的边界。task 里的任务有状态和规则，assistant 里的任务只是对话里的一条引用。边界不是服务、不是团队、也不是数据库。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术语表不是贴在墙上的文档。它要同时出现在需求、代码、测试和报错里。比如 done 是状态，Complete 是动作，completedAt 是结果——三件事不能混着叫。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这一页是战略设计里最实用的部分。判断上下游不要看谁调用谁，要看谁改了以后别人得跟着改。另外提醒一句：共享代码或共享表，也是一条线，而且是最难解开的那种。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的故事提醒我们：共享库、共享表看起来是复用，实际上是一条依赖。改一处，几十个服务要跟着动。共享之前先问一句：改了以后，谁要跟着改？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这是落到我们项目的地图。identity 发 JWT，task 是核心域，assistant 和 docs 各自翻译，planning 先不接。这张图就是后面拆服务的依据。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这一页是给不在代码里的同事的：战略设计不是研发的内部洁癖，它直接影响需求怎么讨论、变更怎么评估。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下一步是战术设计，也就是今天没展开的那一层：实体、值对象、聚合。但注意顺序——文档没定稿之前不动代码。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收尾。可以把讨论引到两个问题上：我们的边界有没有画错？哪些词现在还是两套叫法？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68680" y="1828800"/>
            <a:ext cx="99669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063240"/>
            <a:ext cx="89611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F1A2B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DDD 战略设计 · 时序 v2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68680" y="18288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先把边界划对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0632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DDD 战略设计：子域 · 限界上下文 · 通用语言 · Context Map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069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时序 v2 · 内部技术分享 · 2026.10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0" y="534924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F1A2B"/>
          </a:solidFill>
          <a:ln w="12700">
            <a:solidFill>
              <a:srgbClr val="3D4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子域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778240" y="5577840"/>
            <a:ext cx="137160" cy="9144"/>
          </a:xfrm>
          <a:prstGeom prst="line">
            <a:avLst/>
          </a:prstGeom>
          <a:noFill/>
          <a:ln w="12700">
            <a:solidFill>
              <a:srgbClr val="3D4F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961120" y="534924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F1A2B"/>
          </a:solidFill>
          <a:ln w="12700">
            <a:solidFill>
              <a:srgbClr val="3D4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241280" y="5577840"/>
            <a:ext cx="137160" cy="9144"/>
          </a:xfrm>
          <a:prstGeom prst="line">
            <a:avLst/>
          </a:prstGeom>
          <a:noFill/>
          <a:ln w="12700">
            <a:solidFill>
              <a:srgbClr val="3D4F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24160" y="5349240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0F1A2B"/>
          </a:solidFill>
          <a:ln w="12700">
            <a:solidFill>
              <a:srgbClr val="3D4F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地图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战略设计回答三个问题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087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系统出问题，常常不是代码写错了——而是同一个词，在两处指的不是一回事。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业务分几块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69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哪一块最值钱，哪一块可以买现成的。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8803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每块里的词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4069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同一个词，在这里到底指什么。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288036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块之间怎么协作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4069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谁影响谁、传什么、谁负责翻译。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这一层不写代码，但它决定了代码按什么切开。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一个词，两种含义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77640" y="1371600"/>
            <a:ext cx="4251960" cy="548640"/>
          </a:xfrm>
          <a:prstGeom prst="roundRect">
            <a:avLst>
              <a:gd name="adj" fmla="val 13333"/>
            </a:avLst>
          </a:prstGeom>
          <a:solidFill>
            <a:srgbClr val="0F1A2B"/>
          </a:solidFill>
          <a:ln>
            <a:solidFill>
              <a:srgbClr val="0F1A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offense（违法 / 案件）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执法部门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564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发生了什么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要不要立案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由哪个机构跟进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2743200"/>
            <a:ext cx="5166360" cy="2103120"/>
          </a:xfrm>
          <a:prstGeom prst="roundRect">
            <a:avLst>
              <a:gd name="adj" fmla="val 2609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11112" y="2944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检察院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3456432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能不能起诉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罪名是什么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证据够不够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H="1">
            <a:off x="3291840" y="1920240"/>
            <a:ext cx="2103120" cy="822960"/>
          </a:xfrm>
          <a:prstGeom prst="line">
            <a:avLst/>
          </a:prstGeom>
          <a:noFill/>
          <a:ln w="13970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12280" y="1920240"/>
            <a:ext cx="2103120" cy="822960"/>
          </a:xfrm>
          <a:prstGeom prst="line">
            <a:avLst/>
          </a:prstGeom>
          <a:noFill/>
          <a:ln w="13970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8580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开会时都同意用 offense，散会后各自心里的字段和规则完全不同。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案例：Texas 州青少年司法案件系统，Jimmy Bogard 2017 年复盘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代码里的词，和用户说的词对不上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用户看到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公开频道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55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channels.*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6002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用户看到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私有频道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55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groups.*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用户看到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私信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55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im.*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89720" y="1600200"/>
            <a:ext cx="2606040" cy="1325880"/>
          </a:xfrm>
          <a:prstGeom prst="roundRect">
            <a:avLst>
              <a:gd name="adj" fmla="val 413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0" y="1783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用户看到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多人私信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0552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mpim.*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10817352" cy="685800"/>
          </a:xfrm>
          <a:prstGeom prst="roundRect">
            <a:avLst>
              <a:gd name="adj" fmla="val 6667"/>
            </a:avLst>
          </a:prstGeom>
          <a:solidFill>
            <a:srgbClr val="0F1A2B"/>
          </a:solidFill>
          <a:ln>
            <a:solidFill>
              <a:srgbClr val="0F1A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2020 年：四套 API 合并为 conversations.*，类型变成显式属性（is_private、is_im、is_shared）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3434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在这之前：开发者要调四个接口、处理四种返回、申请四种权限。产品叫 private channel，API 叫 group。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模型按数据库表分，不按业务概念分——每多一个调用方，就多一次翻译。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669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案例：Slack Conversations API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子域：先认哪一块最值钱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把业务问题拆开，再决定投多少人、写多少代码。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0F1A2B"/>
          </a:solidFill>
          <a:ln w="9525">
            <a:solidFill>
              <a:srgbClr val="0F1A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核心域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产品的价值所在，值得自己写。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160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例：任务、项目、今天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EDF0F4"/>
          </a:solidFill>
          <a:ln w="9525">
            <a:solidFill>
              <a:srgbClr val="EDF0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支撑域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必须有，但不构成差异。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4160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例：文档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EDF0F4"/>
          </a:solidFill>
          <a:ln w="9525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2057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通用域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6974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买现成的，或者做得越简单越好。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1605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例：账号、登录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257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顺序：先认出核心域，再从通用域里省时间。反过来做，就是把人力花在不构成差异的地方。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边界内，一个词只有一个意思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5120640" cy="224028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 上下文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3317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任务 = 有状态、有完成时间、有父子关系的工作项。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能不能完成，规则在这里。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82512" y="1645920"/>
            <a:ext cx="5120640" cy="2240280"/>
          </a:xfrm>
          <a:prstGeom prst="roundRect">
            <a:avLst>
              <a:gd name="adj" fmla="val 2449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56832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assistant 上下文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656832" y="23317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任务 = 对话里被提到的一件事，只是一条引用。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它判断不了完成状态。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737360"/>
            <a:ext cx="9144" cy="2057400"/>
          </a:xfrm>
          <a:prstGeom prst="line">
            <a:avLst/>
          </a:prstGeom>
          <a:noFill/>
          <a:ln w="19050">
            <a:solidFill>
              <a:srgbClr val="D0552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623560" y="3931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55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4663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不是微服务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4663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不是团队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4663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不是数据库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边界由语言和规则决定，不由部署方式和数据库决定。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一张大家共用的术语表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同一个上下文里，业务和开发用同一套精确的词：对话、文档、代码、测试都用它。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10512"/>
          <a:ext cx="108173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852160"/>
                <a:gridCol w="2862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词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在这里指什么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不叫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Task</a:t>
                      </a:r>
                      <a:endParaRPr lang="en-US" sz="14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有状态、完成时间、父子关系的工作项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8C9BA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todo / issue / ticket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Complete</a:t>
                      </a:r>
                      <a:endParaRPr lang="en-US" sz="14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从活跃状态进入 done，并记下完成时间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8C9BA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finish / close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Today</a:t>
                      </a:r>
                      <a:endParaRPr lang="en-US" sz="14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按日期查询任务的一个视图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8C9BA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一种任务状态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Archive</a:t>
                      </a:r>
                      <a:endParaRPr lang="en-US" sz="14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项目归档，不是删除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8C9BA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delete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不只是命名统一：业务同事用同一套词，并且能纠正开发的用法。改词等于改模型。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7790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这条对产品最有感：评审时说的“完成”，和代码里的 completed 必须是同一件事。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地图上的一条线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一条线只回答三件事：谁影响谁、传什么、谁负责翻译。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74520"/>
          <a:ext cx="1081735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  <a:gridCol w="29535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上游给的东西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下游怎么做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叫法</a:t>
                      </a:r>
                      <a:endParaRPr lang="en-US" sz="130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刚好能用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直接用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发布语言 / 顺从者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能用但不好用，或者老变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自己翻译一次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防腐层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F1A2B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用不上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不接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各走各路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D0552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共享代码或表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D4F66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两边一起变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D0552E"/>
                          </a:solidFill>
                          <a:latin typeface="Hiragino Sans GB" pitchFamily="34" charset="0"/>
                          <a:ea typeface="Hiragino Sans GB" pitchFamily="34" charset="-122"/>
                          <a:cs typeface="Hiragino Sans GB" pitchFamily="34" charset="-120"/>
                        </a:rPr>
                        <a:t>共享内核（警告）</a:t>
                      </a:r>
                      <a:endParaRPr lang="en-US" sz="1450" dirty="0">
                        <a:latin typeface="Hiragino Sans GB" charset="0"/>
                        <a:ea typeface="Hiragino Sans GB" charset="0"/>
                        <a:cs typeface="Hiragino Sans GB" charset="0"/>
                      </a:endParaRPr>
                    </a:p>
                  </a:txBody>
                  <a:tcPr marL="164592" marR="164592" marT="164592" marB="16459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13892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上下游看影响方向，不看调用方向：它一变，别人就得跟着改的那一方，是上游。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577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我们项目：assistant 调 task，但上游是 task——因为 task 的模型一变，assistant 要跟着改。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共享，也是一条看不见的线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140+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微服务规模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名工程师维持整个系统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18388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32 → 46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2121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合并后，共享库改进次数 / 年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一个目的地一个服务，为复用抽出共享库</a:t>
            </a:r>
            <a:endParaRPr lang="en-US" sz="1450" dirty="0"/>
          </a:p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改一个库，要测试和部署几十个服务</a:t>
            </a:r>
            <a:endParaRPr lang="en-US" sz="1450" dirty="0"/>
          </a:p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赶时间就只升一个服务，版本逐渐分叉</a:t>
            </a:r>
            <a:endParaRPr lang="en-US" sz="1450" dirty="0"/>
          </a:p>
          <a:p>
            <a:pPr marL="342900" indent="-342900">
              <a:lnSpc>
                <a:spcPts val="2600"/>
              </a:lnSpc>
              <a:spcAft>
                <a:spcPts val="400"/>
              </a:spcAft>
              <a:buSzPct val="100000"/>
              <a:buChar char="•"/>
            </a:pPr>
            <a:r>
              <a:rPr lang="en-US" sz="14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最后合并回一个服务、一个 monorepo，120 个依赖统一版本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10817352" cy="731520"/>
          </a:xfrm>
          <a:prstGeom prst="roundRect">
            <a:avLst>
              <a:gd name="adj" fmla="val 6250"/>
            </a:avLst>
          </a:prstGeom>
          <a:solidFill>
            <a:srgbClr val="0F1A2B"/>
          </a:solidFill>
          <a:ln>
            <a:solidFill>
              <a:srgbClr val="0F1A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共享代码不是免费的：它是一条所有消费者都躲不开的依赖。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760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案例：Segment（现 Twilio Segment）从微服务回退到单体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我们的地图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83480" y="1170432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3480" y="12435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identity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983480" y="153619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账号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983480" y="2423160"/>
            <a:ext cx="2240280" cy="731520"/>
          </a:xfrm>
          <a:prstGeom prst="roundRect">
            <a:avLst>
              <a:gd name="adj" fmla="val 6250"/>
            </a:avLst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83480" y="24963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2788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核心域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4069080"/>
            <a:ext cx="2697480" cy="73152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41422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assistant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443484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对话 · 防腐层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40680" y="4069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4142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40680" y="4434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文档 · 防腐层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75320" y="4069080"/>
            <a:ext cx="2743200" cy="731520"/>
          </a:xfrm>
          <a:prstGeom prst="roundRect">
            <a:avLst>
              <a:gd name="adj" fmla="val 6250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4142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gateway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4434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网关 · 事件消费者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03620" y="1828800"/>
            <a:ext cx="9144" cy="594360"/>
          </a:xfrm>
          <a:prstGeom prst="line">
            <a:avLst/>
          </a:prstGeom>
          <a:noFill/>
          <a:ln w="15875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236208" y="1993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JWT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flipH="1">
            <a:off x="3246120" y="3154680"/>
            <a:ext cx="2240280" cy="914400"/>
          </a:xfrm>
          <a:prstGeom prst="line">
            <a:avLst/>
          </a:prstGeom>
          <a:noFill/>
          <a:ln w="15875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063240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 + 防腐层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03620" y="3154680"/>
            <a:ext cx="342900" cy="914400"/>
          </a:xfrm>
          <a:prstGeom prst="line">
            <a:avLst/>
          </a:prstGeom>
          <a:noFill/>
          <a:ln w="15875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537960" y="34564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接口 + 防腐层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3154680"/>
            <a:ext cx="2834640" cy="914400"/>
          </a:xfrm>
          <a:prstGeom prst="line">
            <a:avLst/>
          </a:prstGeom>
          <a:noFill/>
          <a:ln w="15875">
            <a:solidFill>
              <a:srgbClr val="8C9BAE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8321040" y="33832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事件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2423160"/>
            <a:ext cx="2011680" cy="658368"/>
          </a:xfrm>
          <a:prstGeom prst="roundRect">
            <a:avLst>
              <a:gd name="adj" fmla="val 6944"/>
            </a:avLst>
          </a:prstGeom>
          <a:solidFill>
            <a:srgbClr val="F6F8FA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496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planning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后续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97480" y="2788920"/>
            <a:ext cx="2286000" cy="9144"/>
          </a:xfrm>
          <a:prstGeom prst="line">
            <a:avLst/>
          </a:prstGeom>
          <a:noFill/>
          <a:ln w="15875">
            <a:solidFill>
              <a:srgbClr val="D0552E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520440" y="2523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55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先不接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服务之间不共享数据库；跨服务只走接口或事件；gateway 是入口，不是一个业务上下文。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559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战略设计的产出就是这张图：五个上下文、四条边，外加一条先不接的虚线。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对产品和研发，分别意味着什么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EDF0F4"/>
          </a:solidFill>
          <a:ln w="9525">
            <a:solidFill>
              <a:srgbClr val="EDF0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31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需求讨论用同一套词，不用每次翻译</a:t>
            </a:r>
            <a:endParaRPr lang="en-US" sz="1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能说清“这块和那块不是一回事”</a:t>
            </a:r>
            <a:endParaRPr lang="en-US" sz="1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改需求时，影响范围可以预判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99632" y="1463040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0F1A2B"/>
          </a:solidFill>
          <a:ln w="9525">
            <a:solidFill>
              <a:srgbClr val="0F1A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691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研发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331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服务边界有依据，不按数据库表拆</a:t>
            </a:r>
            <a:endParaRPr lang="en-US" sz="1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跨服务只走接口和事件，不共享库表</a:t>
            </a:r>
            <a:endParaRPr lang="en-US" sz="1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换人、隔半年，也能看懂为什么这么切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663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0552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战略设计的产出不是文档，是共识。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4114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B"/>
                </a:solidFill>
              </a:rPr>
              <a:t>接下来做什么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战术设计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在边界内建模型：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实体、值对象、聚合、领域事件。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6F6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应用层与契约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用例编排、接口与事件契约。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6F8FA"/>
          </a:solidFill>
          <a:ln w="9525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055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148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实现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文档定稿后，开始写代码。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639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Gate 关闭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434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A2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代码 Gate 仍然关闭：14 篇文档定稿前，不写业务代码。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937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F6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先定边界和词，再定模型，最后才是实现。顺序反了，后面每一步都在还债。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BAE"/>
                </a:solidFill>
                <a:latin typeface="Hiragino Sans GB"/>
                <a:ea typeface="Hiragino Sans GB"/>
                <a:cs typeface="Hiragino Sans GB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68680" y="182880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先划清边界，再谈实现。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0632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7D0D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谢谢 · 欢迎讨论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41605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C9BAE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参考：Vaughn Vernon · Martin Fowler · Jimmy Bogard · Slack · Segment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and Signal">
  <a:themeElements>
    <a:clrScheme name="Ink and Signal">
      <a:dk1>
        <a:srgbClr val="0F1A2B"/>
      </a:dk1>
      <a:lt1>
        <a:srgbClr val="FFFFFF"/>
      </a:lt1>
      <a:dk2>
        <a:srgbClr val="3D4F66"/>
      </a:dk2>
      <a:lt2>
        <a:srgbClr val="EDF0F4"/>
      </a:lt2>
      <a:accent1>
        <a:srgbClr val="D0552E"/>
      </a:accent1>
      <a:accent2>
        <a:srgbClr val="2E6F63"/>
      </a:accent2>
      <a:accent3>
        <a:srgbClr val="8C9BAE"/>
      </a:accent3>
      <a:accent4>
        <a:srgbClr val="D5DCE4"/>
      </a:accent4>
      <a:accent5>
        <a:srgbClr val="0F1A2B"/>
      </a:accent5>
      <a:accent6>
        <a:srgbClr val="3D4F66"/>
      </a:accent6>
      <a:hlink>
        <a:srgbClr val="2E6F63"/>
      </a:hlink>
      <a:folHlink>
        <a:srgbClr val="3D4F66"/>
      </a:folHlink>
    </a:clrScheme>
    <a:fontScheme name="Ink and Signal">
      <a:majorFont>
        <a:latin typeface="Song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DDD 战略设计</dc:title>
  <dc:subject>子域、限界上下文、通用语言、Context Map</dc:subject>
  <dc:creator>时序 v2</dc:creator>
  <cp:lastModifiedBy>时序 v2</cp:lastModifiedBy>
  <cp:revision>1</cp:revision>
  <dcterms:created xsi:type="dcterms:W3CDTF">2026-10-30T08:45:26Z</dcterms:created>
  <dcterms:modified xsi:type="dcterms:W3CDTF">2026-10-30T08:45:26Z</dcterms:modified>
</cp:coreProperties>
</file>